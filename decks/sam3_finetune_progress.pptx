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731520"/>
            <a:ext cx="1463040" cy="1463040"/>
          </a:xfrm>
          <a:prstGeom prst="rect">
            <a:avLst/>
          </a:prstGeom>
          <a:noFill/>
          <a:ln w="15240">
            <a:solidFill>
              <a:srgbClr val="158A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2194560"/>
            <a:ext cx="822960" cy="822960"/>
          </a:xfrm>
          <a:prstGeom prst="rect">
            <a:avLst/>
          </a:prstGeom>
          <a:noFill/>
          <a:ln w="15240">
            <a:solidFill>
              <a:srgbClr val="FF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66960" y="3840480"/>
            <a:ext cx="1188720" cy="1188720"/>
          </a:xfrm>
          <a:prstGeom prst="rect">
            <a:avLst/>
          </a:prstGeom>
          <a:noFill/>
          <a:ln w="15240">
            <a:solidFill>
              <a:srgbClr val="22B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38560" y="5029200"/>
            <a:ext cx="548640" cy="548640"/>
          </a:xfrm>
          <a:prstGeom prst="rect">
            <a:avLst/>
          </a:prstGeom>
          <a:noFill/>
          <a:ln w="15240">
            <a:solidFill>
              <a:srgbClr val="FF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5394960"/>
            <a:ext cx="365760" cy="365760"/>
          </a:xfrm>
          <a:prstGeom prst="rect">
            <a:avLst/>
          </a:prstGeom>
          <a:noFill/>
          <a:ln w="15240">
            <a:solidFill>
              <a:srgbClr val="7AC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22B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F1E3C"/>
                </a:solidFill>
                <a:latin typeface="Segoe UI"/>
              </a:rPr>
              <a:t>PROJECT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Noto Sans CJK SC"/>
                <a:ea typeface="Noto Sans CJK SC"/>
              </a:rPr>
              <a:t>SAM3 微调项目阶段性进展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22B8C5"/>
                </a:solidFill>
                <a:latin typeface="Noto Sans CJK SC"/>
                <a:ea typeface="Noto Sans CJK SC"/>
              </a:rPr>
              <a:t>AWS_SAM 数据集微调  ·  训练与部署流水线  ·  性能评测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60520"/>
            <a:ext cx="457200" cy="54864"/>
          </a:xfrm>
          <a:prstGeom prst="rect">
            <a:avLst/>
          </a:prstGeom>
          <a:solidFill>
            <a:srgbClr val="FF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8A3C"/>
                </a:solidFill>
                <a:latin typeface="Segoe UI"/>
                <a:ea typeface="Noto Sans CJK SC"/>
              </a:rPr>
              <a:t>+105.6%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578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2A6"/>
                </a:solidFill>
                <a:latin typeface="Noto Sans CJK SC"/>
                <a:ea typeface="Noto Sans CJK SC"/>
              </a:rPr>
              <a:t>mIoU @ 0-click 提升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5720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8A3C"/>
                </a:solidFill>
                <a:latin typeface="Segoe UI"/>
                <a:ea typeface="Noto Sans CJK SC"/>
              </a:rPr>
              <a:t>+22.5%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52578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2A6"/>
                </a:solidFill>
                <a:latin typeface="Noto Sans CJK SC"/>
                <a:ea typeface="Noto Sans CJK SC"/>
              </a:rPr>
              <a:t>mIoU @ 1-click 提升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5720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8A3C"/>
                </a:solidFill>
                <a:latin typeface="Segoe UI"/>
                <a:ea typeface="Noto Sans CJK SC"/>
              </a:rPr>
              <a:t>↓ 0.87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2578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2A6"/>
                </a:solidFill>
                <a:latin typeface="Noto Sans CJK SC"/>
                <a:ea typeface="Noto Sans CJK SC"/>
              </a:rPr>
              <a:t>NoC@95 减少 (clicks)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26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2A6"/>
                </a:solidFill>
                <a:latin typeface="Segoe UI"/>
                <a:ea typeface="Noto Sans CJK SC"/>
              </a:rPr>
              <a:t>Chevolier Zhang  ·  SAM3 Fine-tune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2A6"/>
                </a:solidFill>
                <a:latin typeface="Noto Sans CJK SC"/>
                <a:ea typeface="Noto Sans CJK SC"/>
              </a:rPr>
              <a:t>2026 年 7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2B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8A3C"/>
                </a:solidFill>
                <a:latin typeface="Segoe UI"/>
                <a:ea typeface="Noto Sans CJK SC"/>
              </a:rPr>
              <a:t>01  · 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A4A"/>
                </a:solidFill>
                <a:latin typeface="Noto Sans CJK SC"/>
                <a:ea typeface="Noto Sans CJK SC"/>
              </a:rPr>
              <a:t>项目概览与工作总结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A92A6"/>
                </a:solidFill>
                <a:latin typeface="Segoe UI"/>
                <a:ea typeface="Noto Sans CJK SC"/>
              </a:rPr>
              <a:t>Project overview and work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548640" cy="45720"/>
          </a:xfrm>
          <a:prstGeom prst="rect">
            <a:avLst/>
          </a:prstGeom>
          <a:solidFill>
            <a:srgbClr val="FF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2A6"/>
                </a:solidFill>
                <a:latin typeface="Noto Sans CJK SC"/>
                <a:ea typeface="Noto Sans CJK SC"/>
              </a:rPr>
              <a:t>SAM3 Fine-tune Project  ·  Chevolier Zhang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92A6"/>
                </a:solidFill>
                <a:latin typeface="Segoe UI"/>
                <a:ea typeface="Noto Sans CJK SC"/>
              </a:rPr>
              <a:t>02 / 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73152" cy="2103120"/>
          </a:xfrm>
          <a:prstGeom prst="rect">
            <a:avLst/>
          </a:prstGeom>
          <a:solidFill>
            <a:srgbClr val="22B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1031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A4A"/>
                </a:solidFill>
                <a:latin typeface="Noto Sans CJK SC"/>
                <a:ea typeface="Noto Sans CJK SC"/>
              </a:rPr>
              <a:t>数据与任务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06040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A3A48"/>
                </a:solidFill>
                <a:latin typeface="Noto Sans CJK SC"/>
                <a:ea typeface="Noto Sans CJK SC"/>
              </a:rPr>
              <a:t>▸  AWS_SAM 数据集：LabelMe → COCO 格式转换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300" b="0" i="0">
                <a:solidFill>
                  <a:srgbClr val="3A3A48"/>
                </a:solidFill>
                <a:latin typeface="Noto Sans CJK SC"/>
                <a:ea typeface="Noto Sans CJK SC"/>
              </a:rPr>
              <a:t>▸  9:1 划分训练集 / 测试集（测试 5,181 实例）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300" b="0" i="0">
                <a:solidFill>
                  <a:srgbClr val="3A3A48"/>
                </a:solidFill>
                <a:latin typeface="Noto Sans CJK SC"/>
                <a:ea typeface="Noto Sans CJK SC"/>
              </a:rPr>
              <a:t>▸  文本 / 点击双模式 promptable 分割任务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92024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920240"/>
            <a:ext cx="73152" cy="2103120"/>
          </a:xfrm>
          <a:prstGeom prst="rect">
            <a:avLst/>
          </a:prstGeom>
          <a:solidFill>
            <a:srgbClr val="FF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A4A"/>
                </a:solidFill>
                <a:latin typeface="Noto Sans CJK SC"/>
                <a:ea typeface="Noto Sans CJK SC"/>
              </a:rPr>
              <a:t>两条微调配方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606040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A3A48"/>
                </a:solidFill>
                <a:latin typeface="Noto Sans CJK SC"/>
                <a:ea typeface="Noto Sans CJK SC"/>
              </a:rPr>
              <a:t>▸  配方 A：text-only prompt（detection + segmentation）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300" b="0" i="0">
                <a:solidFill>
                  <a:srgbClr val="3A3A48"/>
                </a:solidFill>
                <a:latin typeface="Noto Sans CJK SC"/>
                <a:ea typeface="Noto Sans CJK SC"/>
              </a:rPr>
              <a:t>▸  配方 B：+ SAM-1 风格 click 分支联合训练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300" b="0" i="0">
                <a:solidFill>
                  <a:srgbClr val="3A3A48"/>
                </a:solidFill>
                <a:latin typeface="Noto Sans CJK SC"/>
                <a:ea typeface="Noto Sans CJK SC"/>
              </a:rPr>
              <a:t>▸  两种配方互补 → 后续尝试双分支联合训练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0624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206240"/>
            <a:ext cx="73152" cy="2103120"/>
          </a:xfrm>
          <a:prstGeom prst="rect">
            <a:avLst/>
          </a:prstGeom>
          <a:solidFill>
            <a:srgbClr val="7AC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3891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A4A"/>
                </a:solidFill>
                <a:latin typeface="Noto Sans CJK SC"/>
                <a:ea typeface="Noto Sans CJK SC"/>
              </a:rPr>
              <a:t>训练 &amp; 部署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892040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A3A48"/>
                </a:solidFill>
                <a:latin typeface="Noto Sans CJK SC"/>
                <a:ea typeface="Noto Sans CJK SC"/>
              </a:rPr>
              <a:t>▸  SageMaker 一键 TrainingJob (单机 / 多机 DDP)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300" b="0" i="0">
                <a:solidFill>
                  <a:srgbClr val="3A3A48"/>
                </a:solidFill>
                <a:latin typeface="Noto Sans CJK SC"/>
                <a:ea typeface="Noto Sans CJK SC"/>
              </a:rPr>
              <a:t>▸  SageMaker 一键实时推理端点 (text + click)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300" b="0" i="0">
                <a:solidFill>
                  <a:srgbClr val="3A3A48"/>
                </a:solidFill>
                <a:latin typeface="Noto Sans CJK SC"/>
                <a:ea typeface="Noto Sans CJK SC"/>
              </a:rPr>
              <a:t>▸  Per-epoch checkpoint 实时同步到 S3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20624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4206240"/>
            <a:ext cx="73152" cy="2103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3891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A4A"/>
                </a:solidFill>
                <a:latin typeface="Noto Sans CJK SC"/>
                <a:ea typeface="Noto Sans CJK SC"/>
              </a:rPr>
              <a:t>评测与对比工具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892040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A3A48"/>
                </a:solidFill>
                <a:latin typeface="Noto Sans CJK SC"/>
                <a:ea typeface="Noto Sans CJK SC"/>
              </a:rPr>
              <a:t>▸  交互式评测: mIoU / Boundary IoU / NoC@95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300" b="0" i="0">
                <a:solidFill>
                  <a:srgbClr val="3A3A48"/>
                </a:solidFill>
                <a:latin typeface="Noto Sans CJK SC"/>
                <a:ea typeface="Noto Sans CJK SC"/>
              </a:rPr>
              <a:t>▸  三面板 Web 对比工具: GT / 预训练 / 微调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300" b="0" i="0">
                <a:solidFill>
                  <a:srgbClr val="3A3A48"/>
                </a:solidFill>
                <a:latin typeface="Noto Sans CJK SC"/>
                <a:ea typeface="Noto Sans CJK SC"/>
              </a:rPr>
              <a:t>▸  端点性能测试脚本 (延迟 + 吞吐)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2B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8A3C"/>
                </a:solidFill>
                <a:latin typeface="Segoe UI"/>
                <a:ea typeface="Noto Sans CJK SC"/>
              </a:rPr>
              <a:t>02  · 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A4A"/>
                </a:solidFill>
                <a:latin typeface="Noto Sans CJK SC"/>
                <a:ea typeface="Noto Sans CJK SC"/>
              </a:rPr>
              <a:t>主要贡献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A92A6"/>
                </a:solidFill>
                <a:latin typeface="Segoe UI"/>
                <a:ea typeface="Noto Sans CJK SC"/>
              </a:rPr>
              <a:t>Key contributions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548640" cy="45720"/>
          </a:xfrm>
          <a:prstGeom prst="rect">
            <a:avLst/>
          </a:prstGeom>
          <a:solidFill>
            <a:srgbClr val="FF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2A6"/>
                </a:solidFill>
                <a:latin typeface="Noto Sans CJK SC"/>
                <a:ea typeface="Noto Sans CJK SC"/>
              </a:rPr>
              <a:t>SAM3 Fine-tune Project  ·  Chevolier Zhang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92A6"/>
                </a:solidFill>
                <a:latin typeface="Segoe UI"/>
                <a:ea typeface="Noto Sans CJK SC"/>
              </a:rPr>
              <a:t>03 / 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B8C5"/>
                </a:solidFill>
                <a:latin typeface="Segoe UI"/>
                <a:ea typeface="Noto Sans CJK SC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79" y="2286000"/>
            <a:ext cx="164592" cy="164592"/>
          </a:xfrm>
          <a:prstGeom prst="rect">
            <a:avLst/>
          </a:prstGeom>
          <a:solidFill>
            <a:srgbClr val="22B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3463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A4A"/>
                </a:solidFill>
                <a:latin typeface="Noto Sans CJK SC"/>
                <a:ea typeface="Noto Sans CJK SC"/>
              </a:rPr>
              <a:t>两条 SAM3 微调配方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461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A3A48"/>
                </a:solidFill>
                <a:latin typeface="Noto Sans CJK SC"/>
                <a:ea typeface="Noto Sans CJK SC"/>
              </a:rPr>
              <a:t>aws_sam_finetune.yaml (text-only) 与 aws_sam_finetune_click.yaml (+ click training) — 完整配置化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96596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4884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8A3C"/>
                </a:solidFill>
                <a:latin typeface="Segoe UI"/>
                <a:ea typeface="Noto Sans CJK SC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2286000"/>
            <a:ext cx="164592" cy="164592"/>
          </a:xfrm>
          <a:prstGeom prst="rect">
            <a:avLst/>
          </a:prstGeom>
          <a:solidFill>
            <a:srgbClr val="FF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83463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A4A"/>
                </a:solidFill>
                <a:latin typeface="Noto Sans CJK SC"/>
                <a:ea typeface="Noto Sans CJK SC"/>
              </a:rPr>
              <a:t>移植 SAM-1 click 训练损失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461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A3A48"/>
                </a:solidFill>
                <a:latin typeface="Noto Sans CJK SC"/>
                <a:ea typeface="Noto Sans CJK SC"/>
              </a:rPr>
              <a:t>多步 click 采样 + best-of-3 mask selection + focal / dice + MSE IoU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96596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14884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7AC58A"/>
                </a:solidFill>
                <a:latin typeface="Segoe UI"/>
                <a:ea typeface="Noto Sans CJK SC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0" y="2286000"/>
            <a:ext cx="164592" cy="164592"/>
          </a:xfrm>
          <a:prstGeom prst="rect">
            <a:avLst/>
          </a:prstGeom>
          <a:solidFill>
            <a:srgbClr val="7AC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283463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A4A"/>
                </a:solidFill>
                <a:latin typeface="Noto Sans CJK SC"/>
                <a:ea typeface="Noto Sans CJK SC"/>
              </a:rPr>
              <a:t>SageMaker 多机训练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2461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A3A48"/>
                </a:solidFill>
                <a:latin typeface="Noto Sans CJK SC"/>
                <a:ea typeface="Noto Sans CJK SC"/>
              </a:rPr>
              <a:t>单机 8×A100 及多节点 DDP (multi-instance-train 分支已跑通)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97679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480559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2B8C5"/>
                </a:solidFill>
                <a:latin typeface="Segoe UI"/>
                <a:ea typeface="Noto Sans CJK SC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79" y="4617719"/>
            <a:ext cx="164592" cy="164592"/>
          </a:xfrm>
          <a:prstGeom prst="rect">
            <a:avLst/>
          </a:prstGeom>
          <a:solidFill>
            <a:srgbClr val="22B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16635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A4A"/>
                </a:solidFill>
                <a:latin typeface="Noto Sans CJK SC"/>
                <a:ea typeface="Noto Sans CJK SC"/>
              </a:rPr>
              <a:t>一键部署 notebook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5778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A3A48"/>
                </a:solidFill>
                <a:latin typeface="Noto Sans CJK SC"/>
                <a:ea typeface="Noto Sans CJK SC"/>
              </a:rPr>
              <a:t>私有 fork 源码 vendored 打包，规避 checkpoint / 上游 state_dict 不匹配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297679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4480559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8A3C"/>
                </a:solidFill>
                <a:latin typeface="Segoe UI"/>
                <a:ea typeface="Noto Sans CJK SC"/>
              </a:rPr>
              <a:t>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4617719"/>
            <a:ext cx="164592" cy="164592"/>
          </a:xfrm>
          <a:prstGeom prst="rect">
            <a:avLst/>
          </a:prstGeom>
          <a:solidFill>
            <a:srgbClr val="FF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516635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A4A"/>
                </a:solidFill>
                <a:latin typeface="Noto Sans CJK SC"/>
                <a:ea typeface="Noto Sans CJK SC"/>
              </a:rPr>
              <a:t>交互式评测框架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5778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A3A48"/>
                </a:solidFill>
                <a:latin typeface="Noto Sans CJK SC"/>
                <a:ea typeface="Noto Sans CJK SC"/>
              </a:rPr>
              <a:t>mIoU / Boundary IoU / NoC@95 @ 0/1/3 clicks — 覆盖 text + click 双模式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4297679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4480559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7AC58A"/>
                </a:solidFill>
                <a:latin typeface="Segoe UI"/>
                <a:ea typeface="Noto Sans CJK SC"/>
              </a:rPr>
              <a:t>06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0" y="4617719"/>
            <a:ext cx="164592" cy="164592"/>
          </a:xfrm>
          <a:prstGeom prst="rect">
            <a:avLst/>
          </a:prstGeom>
          <a:solidFill>
            <a:srgbClr val="7AC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516635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A4A"/>
                </a:solidFill>
                <a:latin typeface="Noto Sans CJK SC"/>
                <a:ea typeface="Noto Sans CJK SC"/>
              </a:rPr>
              <a:t>训练 checkpoint 持续同步 S3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55778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A3A48"/>
                </a:solidFill>
                <a:latin typeface="Noto Sans CJK SC"/>
                <a:ea typeface="Noto Sans CJK SC"/>
              </a:rPr>
              <a:t>支持任意 epoch 恢复 &amp; Spot 实例训练 (成本约降 60%)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2B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8A3C"/>
                </a:solidFill>
                <a:latin typeface="Segoe UI"/>
                <a:ea typeface="Noto Sans CJK SC"/>
              </a:rPr>
              <a:t>03  · 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A4A"/>
                </a:solidFill>
                <a:latin typeface="Noto Sans CJK SC"/>
                <a:ea typeface="Noto Sans CJK SC"/>
              </a:rPr>
              <a:t>实验结果 — 相对于官方预训练模型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A92A6"/>
                </a:solidFill>
                <a:latin typeface="Segoe UI"/>
                <a:ea typeface="Noto Sans CJK SC"/>
              </a:rPr>
              <a:t>Performance improvements vs pretrained SAM3 · AWS_SAM test set (5,181 instances)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548640" cy="45720"/>
          </a:xfrm>
          <a:prstGeom prst="rect">
            <a:avLst/>
          </a:prstGeom>
          <a:solidFill>
            <a:srgbClr val="FF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2A6"/>
                </a:solidFill>
                <a:latin typeface="Noto Sans CJK SC"/>
                <a:ea typeface="Noto Sans CJK SC"/>
              </a:rPr>
              <a:t>SAM3 Fine-tune Project  ·  Chevolier Zhang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92A6"/>
                </a:solidFill>
                <a:latin typeface="Segoe UI"/>
                <a:ea typeface="Noto Sans CJK SC"/>
              </a:rPr>
              <a:t>04 / 08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828800"/>
          <a:ext cx="1110995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6286"/>
                <a:gridCol w="1666494"/>
                <a:gridCol w="2888589"/>
                <a:gridCol w="2888589"/>
              </a:tblGrid>
              <a:tr h="406400">
                <a:tc>
                  <a:txBody>
                    <a:bodyPr lIns="73152" rIns="73152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指标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 lIns="73152" rIns="73152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Pretrained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 lIns="73152" rIns="73152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Finetune A · epoch 2 (text-only)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 lIns="73152" rIns="73152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Finetune B · epoch 8 (+ click)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406400">
                <a:tc>
                  <a:txBody>
                    <a:bodyPr lIns="73152" rIns="73152" anchor="ctr"/>
                    <a:lstStyle/>
                    <a:p>
                      <a:pPr algn="l"/>
                      <a:r>
                        <a:rPr sz="1100" b="1">
                          <a:solidFill>
                            <a:srgbClr val="1E2A4A"/>
                          </a:solidFill>
                          <a:latin typeface="Noto Sans CJK SC"/>
                          <a:ea typeface="Noto Sans CJK SC"/>
                        </a:rPr>
                        <a:t>mIoU @ 0-click (纯文本)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anchor="ctr"/>
                    <a:lstStyle/>
                    <a:p>
                      <a:pPr algn="ctr"/>
                      <a:r>
                        <a:rPr sz="1100" b="0">
                          <a:solidFill>
                            <a:srgbClr val="3A3A48"/>
                          </a:solidFill>
                          <a:latin typeface="Noto Sans CJK SC"/>
                          <a:ea typeface="Noto Sans CJK SC"/>
                        </a:rPr>
                        <a:t>0.2733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58A93"/>
                          </a:solidFill>
                          <a:latin typeface="Noto Sans CJK SC"/>
                          <a:ea typeface="Noto Sans CJK SC"/>
                        </a:rPr>
                        <a:t>0.5620   +105.6%</a:t>
                      </a:r>
                    </a:p>
                  </a:txBody>
                  <a:tcPr>
                    <a:solidFill>
                      <a:srgbClr val="E8F4F0"/>
                    </a:solidFill>
                  </a:tcPr>
                </a:tc>
                <a:tc>
                  <a:txBody>
                    <a:bodyPr lIns="73152" rIns="73152" anchor="ctr"/>
                    <a:lstStyle/>
                    <a:p>
                      <a:pPr algn="ctr"/>
                      <a:r>
                        <a:rPr sz="1100" b="0">
                          <a:solidFill>
                            <a:srgbClr val="3A3A48"/>
                          </a:solidFill>
                          <a:latin typeface="Noto Sans CJK SC"/>
                          <a:ea typeface="Noto Sans CJK SC"/>
                        </a:rPr>
                        <a:t>0.3583   +31.1%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lIns="73152" rIns="73152" anchor="ctr"/>
                    <a:lstStyle/>
                    <a:p>
                      <a:pPr algn="l"/>
                      <a:r>
                        <a:rPr sz="1100" b="1">
                          <a:solidFill>
                            <a:srgbClr val="1E2A4A"/>
                          </a:solidFill>
                          <a:latin typeface="Noto Sans CJK SC"/>
                          <a:ea typeface="Noto Sans CJK SC"/>
                        </a:rPr>
                        <a:t>mIoU @ 1-click</a:t>
                      </a:r>
                    </a:p>
                  </a:txBody>
                  <a:tcPr>
                    <a:solidFill>
                      <a:srgbClr val="FAF7F1"/>
                    </a:solidFill>
                  </a:tcPr>
                </a:tc>
                <a:tc>
                  <a:txBody>
                    <a:bodyPr lIns="73152" rIns="73152" anchor="ctr"/>
                    <a:lstStyle/>
                    <a:p>
                      <a:pPr algn="ctr"/>
                      <a:r>
                        <a:rPr sz="1100" b="0">
                          <a:solidFill>
                            <a:srgbClr val="3A3A48"/>
                          </a:solidFill>
                          <a:latin typeface="Noto Sans CJK SC"/>
                          <a:ea typeface="Noto Sans CJK SC"/>
                        </a:rPr>
                        <a:t>0.5667</a:t>
                      </a:r>
                    </a:p>
                  </a:txBody>
                  <a:tcPr>
                    <a:solidFill>
                      <a:srgbClr val="FAF7F1"/>
                    </a:solidFill>
                  </a:tcPr>
                </a:tc>
                <a:tc>
                  <a:txBody>
                    <a:bodyPr lIns="73152" rIns="73152" anchor="ctr"/>
                    <a:lstStyle/>
                    <a:p>
                      <a:pPr algn="ctr"/>
                      <a:r>
                        <a:rPr sz="1100" b="0">
                          <a:solidFill>
                            <a:srgbClr val="3A3A48"/>
                          </a:solidFill>
                          <a:latin typeface="Noto Sans CJK SC"/>
                          <a:ea typeface="Noto Sans CJK SC"/>
                        </a:rPr>
                        <a:t>0.6309   +11.3%</a:t>
                      </a:r>
                    </a:p>
                  </a:txBody>
                  <a:tcPr>
                    <a:solidFill>
                      <a:srgbClr val="FAF7F1"/>
                    </a:solidFill>
                  </a:tcPr>
                </a:tc>
                <a:tc>
                  <a:txBody>
                    <a:bodyPr lIns="73152" rIns="73152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58A93"/>
                          </a:solidFill>
                          <a:latin typeface="Noto Sans CJK SC"/>
                          <a:ea typeface="Noto Sans CJK SC"/>
                        </a:rPr>
                        <a:t>0.6942   +22.5%</a:t>
                      </a:r>
                    </a:p>
                  </a:txBody>
                  <a:tcPr>
                    <a:solidFill>
                      <a:srgbClr val="E8F4F0"/>
                    </a:solidFill>
                  </a:tcPr>
                </a:tc>
              </a:tr>
              <a:tr h="406400">
                <a:tc>
                  <a:txBody>
                    <a:bodyPr lIns="73152" rIns="73152" anchor="ctr"/>
                    <a:lstStyle/>
                    <a:p>
                      <a:pPr algn="l"/>
                      <a:r>
                        <a:rPr sz="1100" b="1">
                          <a:solidFill>
                            <a:srgbClr val="1E2A4A"/>
                          </a:solidFill>
                          <a:latin typeface="Noto Sans CJK SC"/>
                          <a:ea typeface="Noto Sans CJK SC"/>
                        </a:rPr>
                        <a:t>mIoU @ 3-click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anchor="ctr"/>
                    <a:lstStyle/>
                    <a:p>
                      <a:pPr algn="ctr"/>
                      <a:r>
                        <a:rPr sz="1100" b="0">
                          <a:solidFill>
                            <a:srgbClr val="3A3A48"/>
                          </a:solidFill>
                          <a:latin typeface="Noto Sans CJK SC"/>
                          <a:ea typeface="Noto Sans CJK SC"/>
                        </a:rPr>
                        <a:t>0.7613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anchor="ctr"/>
                    <a:lstStyle/>
                    <a:p>
                      <a:pPr algn="ctr"/>
                      <a:r>
                        <a:rPr sz="1100" b="0">
                          <a:solidFill>
                            <a:srgbClr val="3A3A48"/>
                          </a:solidFill>
                          <a:latin typeface="Noto Sans CJK SC"/>
                          <a:ea typeface="Noto Sans CJK SC"/>
                        </a:rPr>
                        <a:t>0.8186   +7.5%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58A93"/>
                          </a:solidFill>
                          <a:latin typeface="Noto Sans CJK SC"/>
                          <a:ea typeface="Noto Sans CJK SC"/>
                        </a:rPr>
                        <a:t>0.8359   +9.8%</a:t>
                      </a:r>
                    </a:p>
                  </a:txBody>
                  <a:tcPr>
                    <a:solidFill>
                      <a:srgbClr val="E8F4F0"/>
                    </a:solidFill>
                  </a:tcPr>
                </a:tc>
              </a:tr>
              <a:tr h="406400">
                <a:tc>
                  <a:txBody>
                    <a:bodyPr lIns="73152" rIns="73152" anchor="ctr"/>
                    <a:lstStyle/>
                    <a:p>
                      <a:pPr algn="l"/>
                      <a:r>
                        <a:rPr sz="1100" b="1">
                          <a:solidFill>
                            <a:srgbClr val="1E2A4A"/>
                          </a:solidFill>
                          <a:latin typeface="Noto Sans CJK SC"/>
                          <a:ea typeface="Noto Sans CJK SC"/>
                        </a:rPr>
                        <a:t>Boundary IoU @ 0-click</a:t>
                      </a:r>
                    </a:p>
                  </a:txBody>
                  <a:tcPr>
                    <a:solidFill>
                      <a:srgbClr val="FAF7F1"/>
                    </a:solidFill>
                  </a:tcPr>
                </a:tc>
                <a:tc>
                  <a:txBody>
                    <a:bodyPr lIns="73152" rIns="73152" anchor="ctr"/>
                    <a:lstStyle/>
                    <a:p>
                      <a:pPr algn="ctr"/>
                      <a:r>
                        <a:rPr sz="1100" b="0">
                          <a:solidFill>
                            <a:srgbClr val="3A3A48"/>
                          </a:solidFill>
                          <a:latin typeface="Noto Sans CJK SC"/>
                          <a:ea typeface="Noto Sans CJK SC"/>
                        </a:rPr>
                        <a:t>0.2199</a:t>
                      </a:r>
                    </a:p>
                  </a:txBody>
                  <a:tcPr>
                    <a:solidFill>
                      <a:srgbClr val="FAF7F1"/>
                    </a:solidFill>
                  </a:tcPr>
                </a:tc>
                <a:tc>
                  <a:txBody>
                    <a:bodyPr lIns="73152" rIns="73152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58A93"/>
                          </a:solidFill>
                          <a:latin typeface="Noto Sans CJK SC"/>
                          <a:ea typeface="Noto Sans CJK SC"/>
                        </a:rPr>
                        <a:t>0.4976   +126.3%</a:t>
                      </a:r>
                    </a:p>
                  </a:txBody>
                  <a:tcPr>
                    <a:solidFill>
                      <a:srgbClr val="E8F4F0"/>
                    </a:solidFill>
                  </a:tcPr>
                </a:tc>
                <a:tc>
                  <a:txBody>
                    <a:bodyPr lIns="73152" rIns="73152" anchor="ctr"/>
                    <a:lstStyle/>
                    <a:p>
                      <a:pPr algn="ctr"/>
                      <a:r>
                        <a:rPr sz="1100" b="0">
                          <a:solidFill>
                            <a:srgbClr val="3A3A48"/>
                          </a:solidFill>
                          <a:latin typeface="Noto Sans CJK SC"/>
                          <a:ea typeface="Noto Sans CJK SC"/>
                        </a:rPr>
                        <a:t>0.3047   +38.6%</a:t>
                      </a:r>
                    </a:p>
                  </a:txBody>
                  <a:tcPr>
                    <a:solidFill>
                      <a:srgbClr val="FAF7F1"/>
                    </a:solidFill>
                  </a:tcPr>
                </a:tc>
              </a:tr>
              <a:tr h="406400">
                <a:tc>
                  <a:txBody>
                    <a:bodyPr lIns="73152" rIns="73152" anchor="ctr"/>
                    <a:lstStyle/>
                    <a:p>
                      <a:pPr algn="l"/>
                      <a:r>
                        <a:rPr sz="1100" b="1">
                          <a:solidFill>
                            <a:srgbClr val="1E2A4A"/>
                          </a:solidFill>
                          <a:latin typeface="Noto Sans CJK SC"/>
                          <a:ea typeface="Noto Sans CJK SC"/>
                        </a:rPr>
                        <a:t>Boundary IoU @ 1-click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anchor="ctr"/>
                    <a:lstStyle/>
                    <a:p>
                      <a:pPr algn="ctr"/>
                      <a:r>
                        <a:rPr sz="1100" b="0">
                          <a:solidFill>
                            <a:srgbClr val="3A3A48"/>
                          </a:solidFill>
                          <a:latin typeface="Noto Sans CJK SC"/>
                          <a:ea typeface="Noto Sans CJK SC"/>
                        </a:rPr>
                        <a:t>0.4976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anchor="ctr"/>
                    <a:lstStyle/>
                    <a:p>
                      <a:pPr algn="ctr"/>
                      <a:r>
                        <a:rPr sz="1100" b="0">
                          <a:solidFill>
                            <a:srgbClr val="3A3A48"/>
                          </a:solidFill>
                          <a:latin typeface="Noto Sans CJK SC"/>
                          <a:ea typeface="Noto Sans CJK SC"/>
                        </a:rPr>
                        <a:t>0.5589   +12.3%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58A93"/>
                          </a:solidFill>
                          <a:latin typeface="Noto Sans CJK SC"/>
                          <a:ea typeface="Noto Sans CJK SC"/>
                        </a:rPr>
                        <a:t>0.6095   +22.5%</a:t>
                      </a:r>
                    </a:p>
                  </a:txBody>
                  <a:tcPr>
                    <a:solidFill>
                      <a:srgbClr val="E8F4F0"/>
                    </a:solidFill>
                  </a:tcPr>
                </a:tc>
              </a:tr>
              <a:tr h="406400">
                <a:tc>
                  <a:txBody>
                    <a:bodyPr lIns="73152" rIns="73152" anchor="ctr"/>
                    <a:lstStyle/>
                    <a:p>
                      <a:pPr algn="l"/>
                      <a:r>
                        <a:rPr sz="1100" b="1">
                          <a:solidFill>
                            <a:srgbClr val="1E2A4A"/>
                          </a:solidFill>
                          <a:latin typeface="Noto Sans CJK SC"/>
                          <a:ea typeface="Noto Sans CJK SC"/>
                        </a:rPr>
                        <a:t>Boundary IoU @ 3-click</a:t>
                      </a:r>
                    </a:p>
                  </a:txBody>
                  <a:tcPr>
                    <a:solidFill>
                      <a:srgbClr val="FAF7F1"/>
                    </a:solidFill>
                  </a:tcPr>
                </a:tc>
                <a:tc>
                  <a:txBody>
                    <a:bodyPr lIns="73152" rIns="73152" anchor="ctr"/>
                    <a:lstStyle/>
                    <a:p>
                      <a:pPr algn="ctr"/>
                      <a:r>
                        <a:rPr sz="1100" b="0">
                          <a:solidFill>
                            <a:srgbClr val="3A3A48"/>
                          </a:solidFill>
                          <a:latin typeface="Noto Sans CJK SC"/>
                          <a:ea typeface="Noto Sans CJK SC"/>
                        </a:rPr>
                        <a:t>0.6749</a:t>
                      </a:r>
                    </a:p>
                  </a:txBody>
                  <a:tcPr>
                    <a:solidFill>
                      <a:srgbClr val="FAF7F1"/>
                    </a:solidFill>
                  </a:tcPr>
                </a:tc>
                <a:tc>
                  <a:txBody>
                    <a:bodyPr lIns="73152" rIns="73152" anchor="ctr"/>
                    <a:lstStyle/>
                    <a:p>
                      <a:pPr algn="ctr"/>
                      <a:r>
                        <a:rPr sz="1100" b="0">
                          <a:solidFill>
                            <a:srgbClr val="3A3A48"/>
                          </a:solidFill>
                          <a:latin typeface="Noto Sans CJK SC"/>
                          <a:ea typeface="Noto Sans CJK SC"/>
                        </a:rPr>
                        <a:t>0.7327   +8.6%</a:t>
                      </a:r>
                    </a:p>
                  </a:txBody>
                  <a:tcPr>
                    <a:solidFill>
                      <a:srgbClr val="FAF7F1"/>
                    </a:solidFill>
                  </a:tcPr>
                </a:tc>
                <a:tc>
                  <a:txBody>
                    <a:bodyPr lIns="73152" rIns="73152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58A93"/>
                          </a:solidFill>
                          <a:latin typeface="Noto Sans CJK SC"/>
                          <a:ea typeface="Noto Sans CJK SC"/>
                        </a:rPr>
                        <a:t>0.7569   +12.2%</a:t>
                      </a:r>
                    </a:p>
                  </a:txBody>
                  <a:tcPr>
                    <a:solidFill>
                      <a:srgbClr val="E8F4F0"/>
                    </a:solidFill>
                  </a:tcPr>
                </a:tc>
              </a:tr>
              <a:tr h="406400">
                <a:tc>
                  <a:txBody>
                    <a:bodyPr lIns="73152" rIns="73152" anchor="ctr"/>
                    <a:lstStyle/>
                    <a:p>
                      <a:pPr algn="l"/>
                      <a:r>
                        <a:rPr sz="1100" b="1">
                          <a:solidFill>
                            <a:srgbClr val="1E2A4A"/>
                          </a:solidFill>
                          <a:latin typeface="Noto Sans CJK SC"/>
                          <a:ea typeface="Noto Sans CJK SC"/>
                        </a:rPr>
                        <a:t>NoC@95  (↓ 越好)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anchor="ctr"/>
                    <a:lstStyle/>
                    <a:p>
                      <a:pPr algn="ctr"/>
                      <a:r>
                        <a:rPr sz="1100" b="0">
                          <a:solidFill>
                            <a:srgbClr val="3A3A48"/>
                          </a:solidFill>
                          <a:latin typeface="Noto Sans CJK SC"/>
                          <a:ea typeface="Noto Sans CJK SC"/>
                        </a:rPr>
                        <a:t>15.80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anchor="ctr"/>
                    <a:lstStyle/>
                    <a:p>
                      <a:pPr algn="ctr"/>
                      <a:r>
                        <a:rPr sz="1100" b="0">
                          <a:solidFill>
                            <a:srgbClr val="3A3A48"/>
                          </a:solidFill>
                          <a:latin typeface="Noto Sans CJK SC"/>
                          <a:ea typeface="Noto Sans CJK SC"/>
                        </a:rPr>
                        <a:t>15.44   ↓ 0.36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58A93"/>
                          </a:solidFill>
                          <a:latin typeface="Noto Sans CJK SC"/>
                          <a:ea typeface="Noto Sans CJK SC"/>
                        </a:rPr>
                        <a:t>14.94   ↓ 0.87</a:t>
                      </a:r>
                    </a:p>
                  </a:txBody>
                  <a:tcPr>
                    <a:solidFill>
                      <a:srgbClr val="E8F4F0"/>
                    </a:solidFill>
                  </a:tcPr>
                </a:tc>
              </a:tr>
              <a:tr h="406400">
                <a:tc>
                  <a:txBody>
                    <a:bodyPr lIns="73152" rIns="73152" anchor="ctr"/>
                    <a:lstStyle/>
                    <a:p>
                      <a:pPr algn="l"/>
                      <a:r>
                        <a:rPr sz="1100" b="1">
                          <a:solidFill>
                            <a:srgbClr val="1E2A4A"/>
                          </a:solidFill>
                          <a:latin typeface="Noto Sans CJK SC"/>
                          <a:ea typeface="Noto Sans CJK SC"/>
                        </a:rPr>
                        <a:t>Reach rate @ 95</a:t>
                      </a:r>
                    </a:p>
                  </a:txBody>
                  <a:tcPr>
                    <a:solidFill>
                      <a:srgbClr val="FAF7F1"/>
                    </a:solidFill>
                  </a:tcPr>
                </a:tc>
                <a:tc>
                  <a:txBody>
                    <a:bodyPr lIns="73152" rIns="73152" anchor="ctr"/>
                    <a:lstStyle/>
                    <a:p>
                      <a:pPr algn="ctr"/>
                      <a:r>
                        <a:rPr sz="1100" b="0">
                          <a:solidFill>
                            <a:srgbClr val="3A3A48"/>
                          </a:solidFill>
                          <a:latin typeface="Noto Sans CJK SC"/>
                          <a:ea typeface="Noto Sans CJK SC"/>
                        </a:rPr>
                        <a:t>0.2822</a:t>
                      </a:r>
                    </a:p>
                  </a:txBody>
                  <a:tcPr>
                    <a:solidFill>
                      <a:srgbClr val="FAF7F1"/>
                    </a:solidFill>
                  </a:tcPr>
                </a:tc>
                <a:tc>
                  <a:txBody>
                    <a:bodyPr lIns="73152" rIns="73152" anchor="ctr"/>
                    <a:lstStyle/>
                    <a:p>
                      <a:pPr algn="ctr"/>
                      <a:r>
                        <a:rPr sz="1100" b="0">
                          <a:solidFill>
                            <a:srgbClr val="3A3A48"/>
                          </a:solidFill>
                          <a:latin typeface="Noto Sans CJK SC"/>
                          <a:ea typeface="Noto Sans CJK SC"/>
                        </a:rPr>
                        <a:t>0.3011   +6.7%</a:t>
                      </a:r>
                    </a:p>
                  </a:txBody>
                  <a:tcPr>
                    <a:solidFill>
                      <a:srgbClr val="FAF7F1"/>
                    </a:solidFill>
                  </a:tcPr>
                </a:tc>
                <a:tc>
                  <a:txBody>
                    <a:bodyPr lIns="73152" rIns="73152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58A93"/>
                          </a:solidFill>
                          <a:latin typeface="Noto Sans CJK SC"/>
                          <a:ea typeface="Noto Sans CJK SC"/>
                        </a:rPr>
                        <a:t>0.3216   +14.0%</a:t>
                      </a:r>
                    </a:p>
                  </a:txBody>
                  <a:tcPr>
                    <a:solidFill>
                      <a:srgbClr val="E8F4F0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623560"/>
            <a:ext cx="11109960" cy="77724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6967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8A3C"/>
                </a:solidFill>
                <a:latin typeface="Noto Sans CJK SC"/>
                <a:ea typeface="Noto Sans CJK SC"/>
              </a:rPr>
              <a:t>▸  关键结论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94360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Noto Sans CJK SC"/>
                <a:ea typeface="Noto Sans CJK SC"/>
              </a:rPr>
              <a:t>· 0-click 纯文本场景：配方 A 优势显著 (+105.6% / +126.3%)     · 1/3-click 交互式：配方 B 全面领先 (NoC@95 ↓ 0.87)     · 两配方互补 → 后续尝试双分支联合训练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2B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8A3C"/>
                </a:solidFill>
                <a:latin typeface="Segoe UI"/>
                <a:ea typeface="Noto Sans CJK SC"/>
              </a:rPr>
              <a:t>04  ·  TRAINING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A4A"/>
                </a:solidFill>
                <a:latin typeface="Noto Sans CJK SC"/>
                <a:ea typeface="Noto Sans CJK SC"/>
              </a:rPr>
              <a:t>训练成本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A92A6"/>
                </a:solidFill>
                <a:latin typeface="Segoe UI"/>
                <a:ea typeface="Noto Sans CJK SC"/>
              </a:rPr>
              <a:t>Training cost on SageMaker (ml.p4de.24xlarge)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548640" cy="45720"/>
          </a:xfrm>
          <a:prstGeom prst="rect">
            <a:avLst/>
          </a:prstGeom>
          <a:solidFill>
            <a:srgbClr val="FF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2A6"/>
                </a:solidFill>
                <a:latin typeface="Noto Sans CJK SC"/>
                <a:ea typeface="Noto Sans CJK SC"/>
              </a:rPr>
              <a:t>SAM3 Fine-tune Project  ·  Chevolier Zhang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92A6"/>
                </a:solidFill>
                <a:latin typeface="Segoe UI"/>
                <a:ea typeface="Noto Sans CJK SC"/>
              </a:rPr>
              <a:t>05 / 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5349240" cy="219456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8A3C"/>
                </a:solidFill>
                <a:latin typeface="Noto Sans CJK SC"/>
                <a:ea typeface="Noto Sans CJK SC"/>
              </a:rPr>
              <a:t>▸  单次完整实验 · 20 epochs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48463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Segoe UI"/>
                <a:ea typeface="Noto Sans CJK SC"/>
              </a:rPr>
              <a:t>$50 – $80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A92A6"/>
                </a:solidFill>
                <a:latin typeface="Noto Sans CJK SC"/>
                <a:ea typeface="Noto Sans CJK SC"/>
              </a:rPr>
              <a:t>on-demand · 1.5 – 2.5 小时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03320"/>
            <a:ext cx="4206240" cy="292608"/>
          </a:xfrm>
          <a:prstGeom prst="roundRect">
            <a:avLst>
              <a:gd name="adj" fmla="val 50000"/>
            </a:avLst>
          </a:prstGeom>
          <a:solidFill>
            <a:srgbClr val="7AC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F1E3C"/>
                </a:solidFill>
                <a:latin typeface="Noto Sans CJK SC"/>
                <a:ea typeface="Noto Sans CJK SC"/>
              </a:rPr>
              <a:t>Spot 实例：$20 – $32 · 省 ~60%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1168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2A6"/>
                </a:solidFill>
                <a:latin typeface="Noto Sans CJK SC"/>
                <a:ea typeface="Noto Sans CJK SC"/>
              </a:rPr>
              <a:t>实例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96596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A4A"/>
                </a:solidFill>
                <a:latin typeface="Noto Sans CJK SC"/>
                <a:ea typeface="Noto Sans CJK SC"/>
              </a:rPr>
              <a:t>ml.p4de.24xlarge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31720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2A6"/>
                </a:solidFill>
                <a:latin typeface="Segoe UI"/>
                <a:ea typeface="Noto Sans CJK SC"/>
              </a:rPr>
              <a:t>8 × A100 80GB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651760"/>
            <a:ext cx="5349240" cy="9144"/>
          </a:xfrm>
          <a:prstGeom prst="rect">
            <a:avLst/>
          </a:prstGeom>
          <a:solidFill>
            <a:srgbClr val="E0D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670048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2A6"/>
                </a:solidFill>
                <a:latin typeface="Noto Sans CJK SC"/>
                <a:ea typeface="Noto Sans CJK SC"/>
              </a:rPr>
              <a:t>按需价格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624328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A4A"/>
                </a:solidFill>
                <a:latin typeface="Noto Sans CJK SC"/>
                <a:ea typeface="Noto Sans CJK SC"/>
              </a:rPr>
              <a:t>$32 / 小时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990088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2A6"/>
                </a:solidFill>
                <a:latin typeface="Segoe UI"/>
                <a:ea typeface="Noto Sans CJK SC"/>
              </a:rPr>
              <a:t>on-demand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310128"/>
            <a:ext cx="5349240" cy="9144"/>
          </a:xfrm>
          <a:prstGeom prst="rect">
            <a:avLst/>
          </a:prstGeom>
          <a:solidFill>
            <a:srgbClr val="E0D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328416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2A6"/>
                </a:solidFill>
                <a:latin typeface="Noto Sans CJK SC"/>
                <a:ea typeface="Noto Sans CJK SC"/>
              </a:rPr>
              <a:t>单 epoch 时长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282696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A4A"/>
                </a:solidFill>
                <a:latin typeface="Noto Sans CJK SC"/>
                <a:ea typeface="Noto Sans CJK SC"/>
              </a:rPr>
              <a:t>5 – 7 分钟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648456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2A6"/>
                </a:solidFill>
                <a:latin typeface="Segoe UI"/>
                <a:ea typeface="Noto Sans CJK SC"/>
              </a:rPr>
              <a:t>配方 A / 配方 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968496"/>
            <a:ext cx="5349240" cy="9144"/>
          </a:xfrm>
          <a:prstGeom prst="rect">
            <a:avLst/>
          </a:prstGeom>
          <a:solidFill>
            <a:srgbClr val="E0D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986784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2A6"/>
                </a:solidFill>
                <a:latin typeface="Noto Sans CJK SC"/>
                <a:ea typeface="Noto Sans CJK SC"/>
              </a:rPr>
              <a:t>Batch 配置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941064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2A4A"/>
                </a:solidFill>
                <a:latin typeface="Noto Sans CJK SC"/>
                <a:ea typeface="Noto Sans CJK SC"/>
              </a:rPr>
              <a:t>8 / GPU · gas=2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306824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2A6"/>
                </a:solidFill>
                <a:latin typeface="Segoe UI"/>
                <a:ea typeface="Noto Sans CJK SC"/>
              </a:rPr>
              <a:t>gradient accumulation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43600"/>
            <a:ext cx="11109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AC58A"/>
                </a:solidFill>
                <a:latin typeface="Noto Sans CJK SC"/>
                <a:ea typeface="Noto Sans CJK SC"/>
              </a:rPr>
              <a:t>▸  Per-epoch checkpoint 自动同步到 S3 → 支持任意 epoch 恢复 &amp; Spot 实例训练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2B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8A3C"/>
                </a:solidFill>
                <a:latin typeface="Segoe UI"/>
                <a:ea typeface="Noto Sans CJK SC"/>
              </a:rPr>
              <a:t>05  ·  INFERENCE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A4A"/>
                </a:solidFill>
                <a:latin typeface="Noto Sans CJK SC"/>
                <a:ea typeface="Noto Sans CJK SC"/>
              </a:rPr>
              <a:t>推理成本 — SageMaker 实时端点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A92A6"/>
                </a:solidFill>
                <a:latin typeface="Segoe UI"/>
                <a:ea typeface="Noto Sans CJK SC"/>
              </a:rPr>
              <a:t>Inference cost on SageMaker real-time endpoint (ml.g5.xlarge)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548640" cy="45720"/>
          </a:xfrm>
          <a:prstGeom prst="rect">
            <a:avLst/>
          </a:prstGeom>
          <a:solidFill>
            <a:srgbClr val="FF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2A6"/>
                </a:solidFill>
                <a:latin typeface="Noto Sans CJK SC"/>
                <a:ea typeface="Noto Sans CJK SC"/>
              </a:rPr>
              <a:t>SAM3 Fine-tune Project  ·  Chevolier Zhang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92A6"/>
                </a:solidFill>
                <a:latin typeface="Segoe UI"/>
                <a:ea typeface="Noto Sans CJK SC"/>
              </a:rPr>
              <a:t>06 / 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36576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3657600" cy="73152"/>
          </a:xfrm>
          <a:prstGeom prst="rect">
            <a:avLst/>
          </a:prstGeom>
          <a:solidFill>
            <a:srgbClr val="FF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1488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E2A4A"/>
                </a:solidFill>
                <a:latin typeface="Segoe UI"/>
                <a:ea typeface="Noto Sans CJK SC"/>
              </a:rPr>
              <a:t>$1.40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8803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8A3C"/>
                </a:solidFill>
                <a:latin typeface="Noto Sans CJK SC"/>
                <a:ea typeface="Noto Sans CJK SC"/>
              </a:rPr>
              <a:t>美元 / 小时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1868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2A6"/>
                </a:solidFill>
                <a:latin typeface="Noto Sans CJK SC"/>
                <a:ea typeface="Noto Sans CJK SC"/>
              </a:rPr>
              <a:t>on-demand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920240"/>
            <a:ext cx="36576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920240"/>
            <a:ext cx="3657600" cy="7315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1488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E2A4A"/>
                </a:solidFill>
                <a:latin typeface="Segoe UI"/>
                <a:ea typeface="Noto Sans CJK SC"/>
              </a:rPr>
              <a:t>~ $34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8803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  <a:latin typeface="Noto Sans CJK SC"/>
                <a:ea typeface="Noto Sans CJK SC"/>
              </a:rPr>
              <a:t>美元 / 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21868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2A6"/>
                </a:solidFill>
                <a:latin typeface="Noto Sans CJK SC"/>
                <a:ea typeface="Noto Sans CJK SC"/>
              </a:rPr>
              <a:t>= ~ $1,020 / 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920240"/>
            <a:ext cx="36576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920240"/>
            <a:ext cx="3657600" cy="73152"/>
          </a:xfrm>
          <a:prstGeom prst="rect">
            <a:avLst/>
          </a:prstGeom>
          <a:solidFill>
            <a:srgbClr val="22B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1488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E2A4A"/>
                </a:solidFill>
                <a:latin typeface="Segoe UI"/>
                <a:ea typeface="Noto Sans CJK SC"/>
              </a:rPr>
              <a:t>200–300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8803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B8C5"/>
                </a:solidFill>
                <a:latin typeface="Noto Sans CJK SC"/>
                <a:ea typeface="Noto Sans CJK SC"/>
              </a:rPr>
              <a:t>ms · text p50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21868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2A6"/>
                </a:solidFill>
                <a:latin typeface="Noto Sans CJK SC"/>
                <a:ea typeface="Noto Sans CJK SC"/>
              </a:rPr>
              <a:t>1008 × 1008 输入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94760"/>
            <a:ext cx="36576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794760"/>
            <a:ext cx="3657600" cy="73152"/>
          </a:xfrm>
          <a:prstGeom prst="rect">
            <a:avLst/>
          </a:prstGeom>
          <a:solidFill>
            <a:srgbClr val="22B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40233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E2A4A"/>
                </a:solidFill>
                <a:latin typeface="Segoe UI"/>
                <a:ea typeface="Noto Sans CJK SC"/>
              </a:rPr>
              <a:t>150–250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7548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B8C5"/>
                </a:solidFill>
                <a:latin typeface="Noto Sans CJK SC"/>
                <a:ea typeface="Noto Sans CJK SC"/>
              </a:rPr>
              <a:t>ms · click p50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50932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2A6"/>
                </a:solidFill>
                <a:latin typeface="Noto Sans CJK SC"/>
                <a:ea typeface="Noto Sans CJK SC"/>
              </a:rPr>
              <a:t>SAM-1 兼容 click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794760"/>
            <a:ext cx="36576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3794760"/>
            <a:ext cx="3657600" cy="73152"/>
          </a:xfrm>
          <a:prstGeom prst="rect">
            <a:avLst/>
          </a:prstGeom>
          <a:solidFill>
            <a:srgbClr val="8A9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40233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E2A4A"/>
                </a:solidFill>
                <a:latin typeface="Segoe UI"/>
                <a:ea typeface="Noto Sans CJK SC"/>
              </a:rPr>
              <a:t>30–60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7548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A92A6"/>
                </a:solidFill>
                <a:latin typeface="Noto Sans CJK SC"/>
                <a:ea typeface="Noto Sans CJK SC"/>
              </a:rPr>
              <a:t>s · 冷启动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50932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2A6"/>
                </a:solidFill>
                <a:latin typeface="Noto Sans CJK SC"/>
                <a:ea typeface="Noto Sans CJK SC"/>
              </a:rPr>
              <a:t>CUDA + cuDNN plan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3794760"/>
            <a:ext cx="36576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3794760"/>
            <a:ext cx="3657600" cy="73152"/>
          </a:xfrm>
          <a:prstGeom prst="rect">
            <a:avLst/>
          </a:prstGeom>
          <a:solidFill>
            <a:srgbClr val="7AC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40233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E2A4A"/>
                </a:solidFill>
                <a:latin typeface="Segoe UI"/>
                <a:ea typeface="Noto Sans CJK SC"/>
              </a:rPr>
              <a:t>3–5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7548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AC58A"/>
                </a:solidFill>
                <a:latin typeface="Noto Sans CJK SC"/>
                <a:ea typeface="Noto Sans CJK SC"/>
              </a:rPr>
              <a:t>req/s (并发=1)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50932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A92A6"/>
                </a:solidFill>
                <a:latin typeface="Noto Sans CJK SC"/>
                <a:ea typeface="Noto Sans CJK SC"/>
              </a:rPr>
              <a:t>单 client 吞吐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943600"/>
            <a:ext cx="11109960" cy="365760"/>
          </a:xfrm>
          <a:prstGeom prst="rect">
            <a:avLst/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971032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Noto Sans CJK SC"/>
                <a:ea typeface="Noto Sans CJK SC"/>
              </a:rPr>
              <a:t>▸  benchmark_endpoint.py :  p50/p90/p95/p99 延迟 + 并发吞吐 (线程池模拟真实负载)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2B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8A3C"/>
                </a:solidFill>
                <a:latin typeface="Segoe UI"/>
                <a:ea typeface="Noto Sans CJK SC"/>
              </a:rPr>
              <a:t>06  · 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A4A"/>
                </a:solidFill>
                <a:latin typeface="Noto Sans CJK SC"/>
                <a:ea typeface="Noto Sans CJK SC"/>
              </a:rPr>
              <a:t>下一步计划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A92A6"/>
                </a:solidFill>
                <a:latin typeface="Segoe UI"/>
                <a:ea typeface="Noto Sans CJK SC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548640" cy="45720"/>
          </a:xfrm>
          <a:prstGeom prst="rect">
            <a:avLst/>
          </a:prstGeom>
          <a:solidFill>
            <a:srgbClr val="FF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2A6"/>
                </a:solidFill>
                <a:latin typeface="Noto Sans CJK SC"/>
                <a:ea typeface="Noto Sans CJK SC"/>
              </a:rPr>
              <a:t>SAM3 Fine-tune Project  ·  Chevolier Zhang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A92A6"/>
                </a:solidFill>
                <a:latin typeface="Segoe UI"/>
                <a:ea typeface="Noto Sans CJK SC"/>
              </a:rPr>
              <a:t>07 / 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11109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22B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84831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2B8C5"/>
                </a:solidFill>
                <a:latin typeface="Segoe UI"/>
                <a:ea typeface="Noto Sans CJK SC"/>
              </a:rPr>
              <a:t>Q3 · 观察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295144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A4A"/>
                </a:solidFill>
                <a:latin typeface="Noto Sans CJK SC"/>
                <a:ea typeface="Noto Sans CJK SC"/>
              </a:rPr>
              <a:t>训练与收敛观察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221991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A3A48"/>
                </a:solidFill>
                <a:latin typeface="Noto Sans CJK SC"/>
                <a:ea typeface="Noto Sans CJK SC"/>
              </a:rPr>
              <a:t>跟踪配方 B 在 epoch 8 之后的收敛趋势 · 目前 ckpt8 为最佳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34639"/>
            <a:ext cx="11109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2971799"/>
            <a:ext cx="502920" cy="502920"/>
          </a:xfrm>
          <a:prstGeom prst="ellipse">
            <a:avLst/>
          </a:prstGeom>
          <a:solidFill>
            <a:srgbClr val="22B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953511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2B8C5"/>
                </a:solidFill>
                <a:latin typeface="Segoe UI"/>
                <a:ea typeface="Noto Sans CJK SC"/>
              </a:rPr>
              <a:t>Q3 · 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163823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A4A"/>
                </a:solidFill>
                <a:latin typeface="Noto Sans CJK SC"/>
                <a:ea typeface="Noto Sans CJK SC"/>
              </a:rPr>
              <a:t>配方 B 的 0-click 性能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090672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A3A48"/>
                </a:solidFill>
                <a:latin typeface="Noto Sans CJK SC"/>
                <a:ea typeface="Noto Sans CJK SC"/>
              </a:rPr>
              <a:t>更长 warmup + 更大 effective batch · 缩小相对配方 A 的差距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03320"/>
            <a:ext cx="11109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3840480"/>
            <a:ext cx="502920" cy="502920"/>
          </a:xfrm>
          <a:prstGeom prst="ellipse">
            <a:avLst/>
          </a:prstGeom>
          <a:solidFill>
            <a:srgbClr val="FF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822191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8A3C"/>
                </a:solidFill>
                <a:latin typeface="Segoe UI"/>
                <a:ea typeface="Noto Sans CJK SC"/>
              </a:rPr>
              <a:t>Q3 · 融合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032504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A4A"/>
                </a:solidFill>
                <a:latin typeface="Noto Sans CJK SC"/>
                <a:ea typeface="Noto Sans CJK SC"/>
              </a:rPr>
              <a:t>双分支联合训练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959352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A3A48"/>
                </a:solidFill>
                <a:latin typeface="Noto Sans CJK SC"/>
                <a:ea typeface="Noto Sans CJK SC"/>
              </a:rPr>
              <a:t>text + click 损失共同优化 · 统一两种 prompt 模式的性能优势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72000"/>
            <a:ext cx="11109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" y="4709160"/>
            <a:ext cx="502920" cy="502920"/>
          </a:xfrm>
          <a:prstGeom prst="ellipse">
            <a:avLst/>
          </a:prstGeom>
          <a:solidFill>
            <a:srgbClr val="FF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69087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8A3C"/>
                </a:solidFill>
                <a:latin typeface="Segoe UI"/>
                <a:ea typeface="Noto Sans CJK SC"/>
              </a:rPr>
              <a:t>Q4 · 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901184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A4A"/>
                </a:solidFill>
                <a:latin typeface="Noto Sans CJK SC"/>
                <a:ea typeface="Noto Sans CJK SC"/>
              </a:rPr>
              <a:t>生产环境 A/B 测试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4828032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A3A48"/>
                </a:solidFill>
                <a:latin typeface="Noto Sans CJK SC"/>
                <a:ea typeface="Noto Sans CJK SC"/>
              </a:rPr>
              <a:t>两个微调模型同时部署为 SageMaker 端点 · 用真实业务流量对比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440679"/>
            <a:ext cx="11109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7240" y="5577840"/>
            <a:ext cx="502920" cy="502920"/>
          </a:xfrm>
          <a:prstGeom prst="ellipse">
            <a:avLst/>
          </a:prstGeom>
          <a:solidFill>
            <a:srgbClr val="7AC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559551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AC58A"/>
                </a:solidFill>
                <a:latin typeface="Segoe UI"/>
                <a:ea typeface="Noto Sans CJK SC"/>
              </a:rPr>
              <a:t>Q4 · 降本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769864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A4A"/>
                </a:solidFill>
                <a:latin typeface="Noto Sans CJK SC"/>
                <a:ea typeface="Noto Sans CJK SC"/>
              </a:rPr>
              <a:t>训练成本优化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5696712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A3A48"/>
                </a:solidFill>
                <a:latin typeface="Noto Sans CJK SC"/>
                <a:ea typeface="Noto Sans CJK SC"/>
              </a:rPr>
              <a:t>启用 Spot 训练 (借助已有 checkpoint_s3_uri) · 降本约 60%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0" cy="1097280"/>
          </a:xfrm>
          <a:prstGeom prst="rect">
            <a:avLst/>
          </a:prstGeom>
          <a:noFill/>
          <a:ln w="15240">
            <a:solidFill>
              <a:srgbClr val="158A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1280160"/>
            <a:ext cx="640080" cy="640080"/>
          </a:xfrm>
          <a:prstGeom prst="rect">
            <a:avLst/>
          </a:prstGeom>
          <a:noFill/>
          <a:ln w="15240">
            <a:solidFill>
              <a:srgbClr val="FF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4937760"/>
            <a:ext cx="822960" cy="822960"/>
          </a:xfrm>
          <a:prstGeom prst="rect">
            <a:avLst/>
          </a:prstGeom>
          <a:noFill/>
          <a:ln w="15240">
            <a:solidFill>
              <a:srgbClr val="22B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0" y="5669280"/>
            <a:ext cx="365760" cy="365760"/>
          </a:xfrm>
          <a:prstGeom prst="rect">
            <a:avLst/>
          </a:prstGeom>
          <a:noFill/>
          <a:ln w="15240">
            <a:solidFill>
              <a:srgbClr val="7AC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789920" y="5120640"/>
            <a:ext cx="914400" cy="914400"/>
          </a:xfrm>
          <a:prstGeom prst="rect">
            <a:avLst/>
          </a:prstGeom>
          <a:noFill/>
          <a:ln w="15240">
            <a:solidFill>
              <a:srgbClr val="FF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377440"/>
            <a:ext cx="121916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0" b="1" i="0">
                <a:solidFill>
                  <a:srgbClr val="FFFFFF"/>
                </a:solidFill>
                <a:latin typeface="Noto Sans CJK SC"/>
                <a:ea typeface="Noto Sans CJK SC"/>
              </a:rPr>
              <a:t>谢谢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6440" y="3840480"/>
            <a:ext cx="137160" cy="137160"/>
          </a:xfrm>
          <a:prstGeom prst="rect">
            <a:avLst/>
          </a:prstGeom>
          <a:solidFill>
            <a:srgbClr val="FF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79" y="3840480"/>
            <a:ext cx="137160" cy="137160"/>
          </a:xfrm>
          <a:prstGeom prst="rect">
            <a:avLst/>
          </a:prstGeom>
          <a:solidFill>
            <a:srgbClr val="FF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3840480"/>
            <a:ext cx="137160" cy="137160"/>
          </a:xfrm>
          <a:prstGeom prst="rect">
            <a:avLst/>
          </a:prstGeom>
          <a:solidFill>
            <a:srgbClr val="FF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22B8C5"/>
                </a:solidFill>
                <a:latin typeface="Noto Sans CJK SC"/>
                <a:ea typeface="Noto Sans CJK SC"/>
              </a:rPr>
              <a:t>欢迎讨论与反馈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94360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A92A6"/>
                </a:solidFill>
                <a:latin typeface="Segoe UI"/>
                <a:ea typeface="Noto Sans CJK SC"/>
              </a:rPr>
              <a:t>SAM3 Fine-tune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26364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A92A6"/>
                </a:solidFill>
                <a:latin typeface="Noto Sans CJK SC"/>
                <a:ea typeface="Noto Sans CJK SC"/>
              </a:rPr>
              <a:t>Chevolier Zhang  ·  2026 年 7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